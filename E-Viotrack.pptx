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893496-D802-427B-87C3-EB2AF557B1B5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A30439-D87D-4C5C-ACC1-25E9A515DB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419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A30439-D87D-4C5C-ACC1-25E9A515DBC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45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49735-AC14-3732-F49D-5C47119FD4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0D0FC-EDE0-222B-CE4E-A906D102A2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343E6-4E08-A729-4DD8-025552C57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5EFBC-5B68-F2B9-7811-CB26BAF8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8762B-A5ED-BBF5-6830-E1D5CD2BF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85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DDD86-2439-48E3-8CA6-42E35ED9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91503-C55B-5754-8B4E-810C8FB24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128AF-4905-BA3F-DB88-675F34629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3CAE7-09A4-0115-CA20-4B1C27303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C71E7-1EAB-CFC8-6BA1-638B7E914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100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C238B-94A8-22D2-8B10-8205B404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D200B-7C9D-8490-E7C5-513D2F909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C0523-E3DE-0D65-12BC-BAEF9C8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C8E2C-0B94-7AFA-A35C-6CD52E233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F72F5-F246-DED1-0F4D-15165C15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48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B143B-806F-C2B9-8BE2-FA9E6B813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CB35D-029A-F95E-366B-A3285E033E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65F460-14D8-7E0C-ECD8-07E1683EF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898B53-88C4-161B-1AAD-10906D76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9FB50-131F-A081-23B6-26C20DAC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0840F-5D45-5E27-096C-CD2C8BB48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20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A7B43-7840-C307-5DDE-A327CEE12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E88114-5D4A-C0E0-B12D-8C3616B3B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0B070-3126-C41E-58D3-F5ADC88AB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7D4FD2-28C6-2461-CC8E-E90D8DFC24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9CEFF5-C1E9-035F-98A4-A5F080F553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E94DE1-1DF5-F61C-ED4D-ED9A4657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D4C37A-265C-FBD2-E20E-0559BE86A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7370E7-D10E-7BE9-A1C8-AA4AE307B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429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A38A9-34D4-4EA4-E79E-0ACE52DDB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DCBAE7-B326-89AA-9A82-2C19AFC27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CBD477-1794-4E33-98AE-9F213DE70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F2C38-0F7B-B773-EE7D-739EDB118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701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72D9B-5507-B7C1-D812-82365A83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66CEB0-EAEF-50D9-1126-C9B66439B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DDE2E-3A16-4B14-D21B-5BF6AF87C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16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6946-1169-C766-C450-4F436F658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BA7C6-955B-A58F-D1AF-F12EBEDF7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4397DB-BE06-47FA-AF90-38D0D7E8B7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988765-5249-6D98-F58B-13CD858D0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48FF33-FD33-247D-2D3F-95B483961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040C8-8B14-164C-96F4-849B64B45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3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0E66-D94E-59B1-8DEB-B6D498012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E5A3B-4EDE-4DCF-FD6E-13FB030DB8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5F7AA0-CB93-5A51-FCE4-059E6FCA62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FBF31A-66B5-D7E6-D278-5007BEDB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759E9B-560B-FB83-5E6E-5BE0505AF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4B0BD-2E0D-82A5-BDD1-A02CF780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959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1AFD-95DE-8C28-CDC6-28169BF3F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1AE61A-B373-1076-737C-797C929451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12749-0CFE-0A8F-5EE3-E77F84D26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996BA-1DD9-BE7D-E1DD-7480946F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D332-F3CB-854D-505C-64F369FC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26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E59C-62DF-BFAF-7191-4C781143E2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E38443-BD42-6ABE-6C4D-B7F63437AD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F5A1D-9763-5B10-A56F-BC8853FCC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53346-5BFE-E194-6358-744F52C17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99B5D-F353-BC12-8420-6C60EA4E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117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5F2B17-E974-E0F8-041F-46D2747B5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29DD0-ACF6-DD1E-8242-637DC5F7C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B973C-5B8C-9822-F196-EE95CF5AD0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16C218-4004-4F87-AB00-2790D8F09C6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A4892-1E6C-E33A-D3AB-BB363BDEB7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6BF5D-1ECF-9B96-80C2-672A038D6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C06E3D-8B83-4926-8285-202782E868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987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liverFeronel090597/E-Viotrack.git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qt.io/licensing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43EAF36-4E7B-709D-2336-B5ED396B6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2001" cy="68752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2E981A-F6A6-85EB-DC29-3A73ED269C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53955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4CD949-FC82-0A54-31F8-2717CC9EC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429767"/>
            <a:ext cx="2772802" cy="15636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920162-4883-EA9C-013B-7AED4A2B75FB}"/>
              </a:ext>
            </a:extLst>
          </p:cNvPr>
          <p:cNvSpPr txBox="1"/>
          <p:nvPr/>
        </p:nvSpPr>
        <p:spPr>
          <a:xfrm>
            <a:off x="868680" y="2478024"/>
            <a:ext cx="10981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E-</a:t>
            </a:r>
            <a:r>
              <a:rPr lang="en-US" dirty="0" err="1"/>
              <a:t>Viotrack</a:t>
            </a:r>
            <a:r>
              <a:rPr lang="en-US" dirty="0"/>
              <a:t> is a desktop application for managing RFID-based vehicle tracking and violation management. It interfaces with long-range RFID readers via serial connection, validates scanned RFID tags against a local SQLite database, and displays real-time violation information for drivers.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7A52EF-6F29-1C6A-B362-70801E88D856}"/>
              </a:ext>
            </a:extLst>
          </p:cNvPr>
          <p:cNvSpPr txBox="1"/>
          <p:nvPr/>
        </p:nvSpPr>
        <p:spPr>
          <a:xfrm>
            <a:off x="868680" y="3885986"/>
            <a:ext cx="109819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Overview</a:t>
            </a:r>
          </a:p>
          <a:p>
            <a:r>
              <a:rPr lang="en-US" dirty="0"/>
              <a:t>The system reads RFID tag IDs from long-range RFID hardware and queries a database to retrieve associated driver information and any active unpaid violations. Results are displayed immediately in an intuitive GUI based on PyQt6.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1521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E1AC6C-5C55-A4B1-42FB-7907BE1F424D}"/>
              </a:ext>
            </a:extLst>
          </p:cNvPr>
          <p:cNvSpPr txBox="1"/>
          <p:nvPr/>
        </p:nvSpPr>
        <p:spPr>
          <a:xfrm>
            <a:off x="960120" y="987552"/>
            <a:ext cx="1050645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RFID Tag Reading</a:t>
            </a:r>
            <a:r>
              <a:rPr lang="en-US" sz="1400" dirty="0"/>
              <a:t>: Connects to long-range RFID readers via RS232/USB serial connection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Real-time Validation</a:t>
            </a:r>
            <a:r>
              <a:rPr lang="en-US" sz="1400" dirty="0"/>
              <a:t>: Instantly checks driver records and violation status in SQLite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Violation Tracking</a:t>
            </a:r>
            <a:r>
              <a:rPr lang="en-US" sz="1400" dirty="0"/>
              <a:t>: Detects and displays active unpaid violations for scanned drivers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Driver Management</a:t>
            </a:r>
            <a:r>
              <a:rPr lang="en-US" sz="1400" dirty="0"/>
              <a:t>: Edit driver profiles, violation records, and violation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Activity Logging</a:t>
            </a:r>
            <a:r>
              <a:rPr lang="en-US" sz="1400" dirty="0"/>
              <a:t>: Comprehensive logging of all scan activities and system events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User-Friendly GUI</a:t>
            </a:r>
            <a:r>
              <a:rPr lang="en-US" sz="1400" dirty="0"/>
              <a:t>: Modern PyQt6-based interface with animated transitions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Settings Management</a:t>
            </a:r>
            <a:r>
              <a:rPr lang="en-US" sz="1400" dirty="0"/>
              <a:t>: Configure RFID reader parameters and application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Admin Panel</a:t>
            </a:r>
            <a:r>
              <a:rPr lang="en-US" sz="1400" dirty="0"/>
              <a:t>: Administrative interface for user and violation management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31A644-E7D5-4B50-9DCA-39D8EC0584EA}"/>
              </a:ext>
            </a:extLst>
          </p:cNvPr>
          <p:cNvSpPr txBox="1"/>
          <p:nvPr/>
        </p:nvSpPr>
        <p:spPr>
          <a:xfrm>
            <a:off x="960120" y="3822192"/>
            <a:ext cx="496519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		&gt;=3.13.0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PyQt6                   	  	&gt;=6.7.1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PyQt6-Qt6                   	&gt;=6.7.1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PyQt6-QtSerialPort 	&gt;=6.7.1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tabulate                	&gt;=0.9.0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pyinstaller</a:t>
            </a:r>
            <a:r>
              <a:rPr lang="en-US" dirty="0"/>
              <a:t>             	&gt;=5.13.0</a:t>
            </a:r>
          </a:p>
        </p:txBody>
      </p:sp>
    </p:spTree>
    <p:extLst>
      <p:ext uri="{BB962C8B-B14F-4D97-AF65-F5344CB8AC3E}">
        <p14:creationId xmlns:p14="http://schemas.microsoft.com/office/powerpoint/2010/main" val="2607787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9D4217-12D6-ACDE-5CF8-5D831172AA19}"/>
              </a:ext>
            </a:extLst>
          </p:cNvPr>
          <p:cNvSpPr txBox="1"/>
          <p:nvPr/>
        </p:nvSpPr>
        <p:spPr>
          <a:xfrm>
            <a:off x="0" y="424839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	Project Repository</a:t>
            </a:r>
          </a:p>
          <a:p>
            <a:r>
              <a:rPr lang="en-US" b="1" dirty="0"/>
              <a:t>		</a:t>
            </a:r>
            <a:r>
              <a:rPr lang="en-US" sz="1400" dirty="0" err="1"/>
              <a:t>Github</a:t>
            </a:r>
            <a:r>
              <a:rPr lang="en-US" dirty="0"/>
              <a:t>: </a:t>
            </a:r>
            <a:r>
              <a:rPr lang="en-US" sz="1400" dirty="0">
                <a:hlinkClick r:id="rId2"/>
              </a:rPr>
              <a:t>https://github.com/OliverFeronel090597/E-Viotrack.git</a:t>
            </a:r>
            <a:endParaRPr lang="en-US" sz="1400" dirty="0"/>
          </a:p>
          <a:p>
            <a:r>
              <a:rPr lang="en-US" dirty="0"/>
              <a:t>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86F94F-D226-52EC-A0F5-E8774C31855B}"/>
              </a:ext>
            </a:extLst>
          </p:cNvPr>
          <p:cNvSpPr txBox="1"/>
          <p:nvPr/>
        </p:nvSpPr>
        <p:spPr>
          <a:xfrm>
            <a:off x="850392" y="989511"/>
            <a:ext cx="6071616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800" dirty="0">
              <a:latin typeface="Monospac821 BT" panose="020B0609020202020204" pitchFamily="49" charset="0"/>
            </a:endParaRPr>
          </a:p>
          <a:p>
            <a:r>
              <a:rPr lang="en-US" sz="800" dirty="0">
                <a:latin typeface="Monospac821 BT" panose="020B0609020202020204" pitchFamily="49" charset="0"/>
              </a:rPr>
              <a:t>E-</a:t>
            </a:r>
            <a:r>
              <a:rPr lang="en-US" sz="800" dirty="0" err="1">
                <a:latin typeface="Monospac821 BT" panose="020B0609020202020204" pitchFamily="49" charset="0"/>
              </a:rPr>
              <a:t>Viotrack</a:t>
            </a:r>
            <a:r>
              <a:rPr lang="en-US" sz="800" dirty="0">
                <a:latin typeface="Monospac821 BT" panose="020B0609020202020204" pitchFamily="49" charset="0"/>
              </a:rPr>
              <a:t>/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├── E_Viotrack.py              	# Main application entry point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├── requirements.txt           	# Python dependencies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├── README.md                  	# This file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├── </a:t>
            </a:r>
            <a:r>
              <a:rPr lang="en-US" sz="800" dirty="0" err="1">
                <a:latin typeface="Monospac821 BT" panose="020B0609020202020204" pitchFamily="49" charset="0"/>
              </a:rPr>
              <a:t>db</a:t>
            </a:r>
            <a:r>
              <a:rPr lang="en-US" sz="800" dirty="0">
                <a:latin typeface="Monospac821 BT" panose="020B0609020202020204" pitchFamily="49" charset="0"/>
              </a:rPr>
              <a:t>/                        	# SQLite database files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├── libs/                      	# Core application modules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Homepage.py            	# Home page interface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LogPage.py             	# Activity logs display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Adminpage.py           	# Admin panel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AdvancePage.py         	# Advanced settings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ReadSerial.py          	# RFID serial communication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DatabaseConnector.py  	# SQLite database operations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NotificationManager.py 	# User notifications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CustomTable.py         	# Custom table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Animatedstack.py       	# Animated page transitions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GlobalVariable.py      	# Global configuration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Settings.py            	# RFID manager settings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Hasher.py              	# Password hashing utilities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DriverTableWidget.py   	# Driver table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EditDriverDialog.py    	# Edit driver dialog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EditUserDialog.py      	# Edit user dialog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EditViolationDialog.py 	# Edit violation dialog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EditViolationTypeDialog.py 	# Edit violation type dialog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Globalenentfilter.py   	# Global event filter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RFIDWorker.py          	# RFID worker thread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SerialReaderThread.py  	# Serial reader thread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UserDriverEditView.py  	# User/driver edit view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UserTableWidget.py     	# User table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ViolationTableWidget.py 	# Violation table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ViolationTree.py       	# Violation tree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ViolationTypeTableWidget.py 	# Violation type table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CompleterLineEdit.py   	# Line edit with auto-complete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AutoCapital.py        	# Auto-capitalization utility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AutoStyle.py           	# Auto-style helper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AutoSuggestTextEdit.py 	# Auto-suggest text edit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Imagelabel.py          	# Image label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Imagewididget.py       	# Image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LineClickTextEdit.py   	# Clickable text edit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LogsViewPage.py        	# Logs view page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SlideNotification.py   	# Slide notifications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stylesheetModefier.py  	# Stylesheet modifier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TablePrint.py          	# Table printing utility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TagListWidget.py       	# Tag list widget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UniqueID.py            	# Unique ID generator</a:t>
            </a:r>
          </a:p>
          <a:p>
            <a:r>
              <a:rPr lang="en-US" sz="800" dirty="0">
                <a:latin typeface="Monospac821 BT" panose="020B0609020202020204" pitchFamily="49" charset="0"/>
              </a:rPr>
              <a:t>│   ├── resources.py           	# Application resources (icons/images)</a:t>
            </a:r>
          </a:p>
          <a:p>
            <a:endParaRPr lang="en-US" sz="800" dirty="0">
              <a:latin typeface="Monospac821 BT" panose="020B060902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346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1C656-2BFD-3E99-4294-EDD9E3220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5079E0D-5CA0-7529-7645-7C34AAA3E137}"/>
              </a:ext>
            </a:extLst>
          </p:cNvPr>
          <p:cNvSpPr txBox="1"/>
          <p:nvPr/>
        </p:nvSpPr>
        <p:spPr>
          <a:xfrm>
            <a:off x="960120" y="987552"/>
            <a:ext cx="1050645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Database</a:t>
            </a:r>
          </a:p>
          <a:p>
            <a:r>
              <a:rPr lang="en-US" sz="1400" dirty="0"/>
              <a:t>The application uses SQLite to store:</a:t>
            </a:r>
          </a:p>
          <a:p>
            <a:r>
              <a:rPr lang="en-US" sz="1400" dirty="0"/>
              <a:t>Driver/user profiles</a:t>
            </a:r>
          </a:p>
          <a:p>
            <a:r>
              <a:rPr lang="en-US" sz="1400" dirty="0"/>
              <a:t>RFID tag mappings</a:t>
            </a:r>
          </a:p>
          <a:p>
            <a:r>
              <a:rPr lang="en-US" sz="1400" dirty="0"/>
              <a:t>Violation records and types</a:t>
            </a:r>
          </a:p>
          <a:p>
            <a:r>
              <a:rPr lang="en-US" sz="1400" dirty="0"/>
              <a:t>User activity logs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831B5-5C63-36B3-FD5D-286271A65B2D}"/>
              </a:ext>
            </a:extLst>
          </p:cNvPr>
          <p:cNvSpPr txBox="1"/>
          <p:nvPr/>
        </p:nvSpPr>
        <p:spPr>
          <a:xfrm>
            <a:off x="960120" y="2596896"/>
            <a:ext cx="646480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Hardware</a:t>
            </a:r>
          </a:p>
          <a:p>
            <a:r>
              <a:rPr lang="en-US" sz="1400" dirty="0"/>
              <a:t>The application is designed to work with long-range RFID readers connected via:</a:t>
            </a:r>
          </a:p>
          <a:p>
            <a:r>
              <a:rPr lang="en-US" sz="1400" b="1" dirty="0"/>
              <a:t>Serial Connection</a:t>
            </a:r>
            <a:r>
              <a:rPr lang="en-US" sz="1400" dirty="0"/>
              <a:t>: RS232 to USB adapter</a:t>
            </a:r>
          </a:p>
          <a:p>
            <a:r>
              <a:rPr lang="en-US" sz="1400" b="1" dirty="0"/>
              <a:t>Standard USB</a:t>
            </a:r>
            <a:r>
              <a:rPr lang="en-US" sz="1400" dirty="0"/>
              <a:t>: Direct USB connection to RFID reader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47162-1102-9A38-C8A2-01C71A0BF55C}"/>
              </a:ext>
            </a:extLst>
          </p:cNvPr>
          <p:cNvSpPr txBox="1"/>
          <p:nvPr/>
        </p:nvSpPr>
        <p:spPr>
          <a:xfrm>
            <a:off x="960120" y="3869901"/>
            <a:ext cx="81564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License</a:t>
            </a:r>
            <a:endParaRPr lang="en-US" dirty="0"/>
          </a:p>
          <a:p>
            <a:r>
              <a:rPr lang="en-US" sz="1400" dirty="0"/>
              <a:t>Qt6 GUI Framework (LGPLv3): </a:t>
            </a:r>
            <a:r>
              <a:rPr lang="en-US" sz="1400" dirty="0">
                <a:hlinkClick r:id="rId2"/>
              </a:rPr>
              <a:t>https://www.qt.io/licensing</a:t>
            </a:r>
            <a:r>
              <a:rPr lang="en-US" sz="1400" dirty="0"/>
              <a:t> Qt6 Licensing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122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C588B-5865-1293-0C48-777E534D8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51054B-85EF-9AC7-18D7-6A7A7CE33256}"/>
              </a:ext>
            </a:extLst>
          </p:cNvPr>
          <p:cNvSpPr txBox="1"/>
          <p:nvPr/>
        </p:nvSpPr>
        <p:spPr>
          <a:xfrm>
            <a:off x="960120" y="987552"/>
            <a:ext cx="1050645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Home</a:t>
            </a:r>
          </a:p>
          <a:p>
            <a:pPr lvl="1"/>
            <a:r>
              <a:rPr lang="en-US" sz="1400" dirty="0"/>
              <a:t>Table 1:</a:t>
            </a:r>
          </a:p>
          <a:p>
            <a:pPr lvl="1"/>
            <a:r>
              <a:rPr lang="en-US" sz="1400" dirty="0"/>
              <a:t>	Display scan RFID driver if has active violation, Auto remove once paid in the system.</a:t>
            </a:r>
          </a:p>
          <a:p>
            <a:pPr lvl="1"/>
            <a:r>
              <a:rPr lang="en-US" sz="1400" dirty="0"/>
              <a:t>Table 2:</a:t>
            </a:r>
          </a:p>
          <a:p>
            <a:pPr lvl="1"/>
            <a:r>
              <a:rPr lang="en-US" sz="1400" dirty="0"/>
              <a:t>	Show driver all violation details when click on name in table 1 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72519-ECAF-2142-6A45-2099CEE0D71F}"/>
              </a:ext>
            </a:extLst>
          </p:cNvPr>
          <p:cNvSpPr txBox="1"/>
          <p:nvPr/>
        </p:nvSpPr>
        <p:spPr>
          <a:xfrm>
            <a:off x="960120" y="2567226"/>
            <a:ext cx="1050645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Admin</a:t>
            </a:r>
          </a:p>
          <a:p>
            <a:r>
              <a:rPr lang="en-US" sz="1400" b="1" dirty="0"/>
              <a:t>             </a:t>
            </a:r>
            <a:r>
              <a:rPr lang="en-US" sz="1400" dirty="0"/>
              <a:t>Login:</a:t>
            </a:r>
          </a:p>
          <a:p>
            <a:pPr lvl="1"/>
            <a:r>
              <a:rPr lang="en-US" sz="1400" dirty="0"/>
              <a:t>	New open/installed app login with (</a:t>
            </a:r>
            <a:r>
              <a:rPr lang="en-US" sz="1400" dirty="0" err="1">
                <a:solidFill>
                  <a:srgbClr val="FF0000"/>
                </a:solidFill>
              </a:rPr>
              <a:t>Usename</a:t>
            </a:r>
            <a:r>
              <a:rPr lang="en-US" sz="1400" dirty="0">
                <a:solidFill>
                  <a:srgbClr val="FF0000"/>
                </a:solidFill>
              </a:rPr>
              <a:t>: admin : Password: admin</a:t>
            </a:r>
            <a:r>
              <a:rPr lang="en-US" sz="1400" dirty="0"/>
              <a:t>)</a:t>
            </a:r>
          </a:p>
          <a:p>
            <a:pPr lvl="1"/>
            <a:r>
              <a:rPr lang="en-US" sz="1400" dirty="0"/>
              <a:t>System User:</a:t>
            </a:r>
          </a:p>
          <a:p>
            <a:pPr lvl="1"/>
            <a:r>
              <a:rPr lang="en-US" sz="1400" dirty="0"/>
              <a:t>	Search via search input</a:t>
            </a:r>
          </a:p>
          <a:p>
            <a:pPr lvl="1"/>
            <a:r>
              <a:rPr lang="en-US" sz="1400" dirty="0"/>
              <a:t>	Add , Delete via buttons</a:t>
            </a:r>
          </a:p>
          <a:p>
            <a:pPr lvl="1"/>
            <a:r>
              <a:rPr lang="en-US" sz="1400" dirty="0"/>
              <a:t>	Edit via right click , click first on selected table want to edit</a:t>
            </a:r>
          </a:p>
          <a:p>
            <a:pPr lvl="1"/>
            <a:r>
              <a:rPr lang="en-US" sz="1400" dirty="0"/>
              <a:t>Driver Table:</a:t>
            </a:r>
          </a:p>
          <a:p>
            <a:pPr lvl="1"/>
            <a:r>
              <a:rPr lang="en-US" sz="1400" dirty="0"/>
              <a:t>	Search via search input</a:t>
            </a:r>
          </a:p>
          <a:p>
            <a:pPr lvl="1"/>
            <a:r>
              <a:rPr lang="en-US" sz="1400" dirty="0"/>
              <a:t>	Add , Delete via buttons</a:t>
            </a:r>
          </a:p>
          <a:p>
            <a:pPr lvl="1"/>
            <a:r>
              <a:rPr lang="en-US" sz="1400" dirty="0"/>
              <a:t>	Edit via right click , click first on selected table want to edit</a:t>
            </a:r>
          </a:p>
          <a:p>
            <a:pPr lvl="1"/>
            <a:endParaRPr lang="en-US" sz="1400" dirty="0"/>
          </a:p>
          <a:p>
            <a:pPr lvl="1"/>
            <a:r>
              <a:rPr lang="en-US" sz="1400" dirty="0"/>
              <a:t>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396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D64D5-2400-9522-1995-46E84B82A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6C9C96-7A25-548D-809F-D6D8D94BC124}"/>
              </a:ext>
            </a:extLst>
          </p:cNvPr>
          <p:cNvSpPr txBox="1"/>
          <p:nvPr/>
        </p:nvSpPr>
        <p:spPr>
          <a:xfrm>
            <a:off x="960120" y="987552"/>
            <a:ext cx="105064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Logs</a:t>
            </a:r>
          </a:p>
          <a:p>
            <a:pPr lvl="1"/>
            <a:r>
              <a:rPr lang="en-US" sz="1400" dirty="0"/>
              <a:t>Display activity log straight forward self explanatory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2A9B1B-CAD5-733D-685B-8A35A927FFFB}"/>
              </a:ext>
            </a:extLst>
          </p:cNvPr>
          <p:cNvSpPr txBox="1"/>
          <p:nvPr/>
        </p:nvSpPr>
        <p:spPr>
          <a:xfrm>
            <a:off x="960120" y="1963722"/>
            <a:ext cx="10506456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Advance</a:t>
            </a:r>
          </a:p>
          <a:p>
            <a:pPr lvl="1"/>
            <a:r>
              <a:rPr lang="en-US" sz="1400" dirty="0"/>
              <a:t>Driver Violation:</a:t>
            </a:r>
          </a:p>
          <a:p>
            <a:pPr lvl="1"/>
            <a:r>
              <a:rPr lang="en-US" sz="1400" dirty="0"/>
              <a:t>	Search via search input</a:t>
            </a:r>
          </a:p>
          <a:p>
            <a:pPr lvl="1"/>
            <a:r>
              <a:rPr lang="en-US" sz="1400" dirty="0"/>
              <a:t>	Add , Delete via buttons</a:t>
            </a:r>
          </a:p>
          <a:p>
            <a:pPr lvl="1"/>
            <a:r>
              <a:rPr lang="en-US" sz="1400" dirty="0"/>
              <a:t>	Edit via right click , click first on selected table want to edit</a:t>
            </a:r>
          </a:p>
          <a:p>
            <a:pPr lvl="1"/>
            <a:r>
              <a:rPr lang="en-US" sz="1400" dirty="0"/>
              <a:t>Violation Type:</a:t>
            </a:r>
          </a:p>
          <a:p>
            <a:pPr lvl="1"/>
            <a:r>
              <a:rPr lang="en-US" sz="1400" dirty="0"/>
              <a:t>	Search via search input</a:t>
            </a:r>
          </a:p>
          <a:p>
            <a:pPr lvl="1"/>
            <a:r>
              <a:rPr lang="en-US" sz="1400" dirty="0"/>
              <a:t>	Add , Delete via buttons</a:t>
            </a:r>
          </a:p>
          <a:p>
            <a:pPr lvl="1"/>
            <a:r>
              <a:rPr lang="en-US" sz="1400" dirty="0"/>
              <a:t>	Edit via right click , click first on selected table want to edit</a:t>
            </a:r>
          </a:p>
          <a:p>
            <a:pPr lvl="1"/>
            <a:endParaRPr lang="en-US" sz="1400" dirty="0"/>
          </a:p>
          <a:p>
            <a:pPr lvl="1"/>
            <a:r>
              <a:rPr lang="en-US" sz="1400" dirty="0"/>
              <a:t>	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D2245B-152C-ECD4-3E2F-09E4C3A7716E}"/>
              </a:ext>
            </a:extLst>
          </p:cNvPr>
          <p:cNvSpPr txBox="1"/>
          <p:nvPr/>
        </p:nvSpPr>
        <p:spPr>
          <a:xfrm>
            <a:off x="1030224" y="4340275"/>
            <a:ext cx="1050645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Settings</a:t>
            </a:r>
          </a:p>
          <a:p>
            <a:pPr lvl="1"/>
            <a:r>
              <a:rPr lang="en-US" sz="1400" dirty="0"/>
              <a:t>Select Device to use up to 5 device and set proper baud rate on device common (9600): </a:t>
            </a:r>
          </a:p>
          <a:p>
            <a:pPr lvl="1"/>
            <a:endParaRPr lang="en-US" sz="1400" dirty="0"/>
          </a:p>
          <a:p>
            <a:pPr lvl="1"/>
            <a:r>
              <a:rPr lang="en-US" sz="1400" dirty="0"/>
              <a:t>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356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8F99D-91AA-EFBD-7BA5-8C92BA67E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7FAC94-69C2-3050-6F58-5B6355ED09D3}"/>
              </a:ext>
            </a:extLst>
          </p:cNvPr>
          <p:cNvSpPr txBox="1"/>
          <p:nvPr/>
        </p:nvSpPr>
        <p:spPr>
          <a:xfrm>
            <a:off x="506341" y="987552"/>
            <a:ext cx="1050645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DATABASE STRUCTURE SUMMARY</a:t>
            </a:r>
          </a:p>
          <a:p>
            <a:pPr lvl="1"/>
            <a:r>
              <a:rPr lang="en-US" sz="1400" dirty="0"/>
              <a:t>Your DB contains </a:t>
            </a:r>
            <a:r>
              <a:rPr lang="en-US" sz="1400" b="1" dirty="0"/>
              <a:t>5 tables</a:t>
            </a:r>
            <a:r>
              <a:rPr lang="en-US" sz="1400" dirty="0"/>
              <a:t>:</a:t>
            </a:r>
          </a:p>
          <a:p>
            <a:pPr lvl="1"/>
            <a:r>
              <a:rPr lang="en-US" sz="1400" b="1" dirty="0"/>
              <a:t>drivers</a:t>
            </a:r>
            <a:endParaRPr lang="en-US" sz="1400" dirty="0"/>
          </a:p>
          <a:p>
            <a:pPr lvl="1"/>
            <a:r>
              <a:rPr lang="en-US" sz="1400" b="1" dirty="0" err="1"/>
              <a:t>system_users</a:t>
            </a:r>
            <a:endParaRPr lang="en-US" sz="1400" dirty="0"/>
          </a:p>
          <a:p>
            <a:pPr lvl="1"/>
            <a:r>
              <a:rPr lang="en-US" sz="1400" b="1" dirty="0"/>
              <a:t>violations</a:t>
            </a:r>
            <a:endParaRPr lang="en-US" sz="1400" dirty="0"/>
          </a:p>
          <a:p>
            <a:pPr lvl="1"/>
            <a:r>
              <a:rPr lang="en-US" sz="1400" b="1" dirty="0" err="1"/>
              <a:t>violations_type</a:t>
            </a:r>
            <a:endParaRPr lang="en-US" sz="1400" dirty="0"/>
          </a:p>
          <a:p>
            <a:pPr lvl="1"/>
            <a:r>
              <a:rPr lang="en-US" sz="1400" b="1" dirty="0"/>
              <a:t>Comports</a:t>
            </a:r>
          </a:p>
          <a:p>
            <a:pPr lvl="1"/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F0CFE5-C7E2-1E53-F2C6-A734F2784D21}"/>
              </a:ext>
            </a:extLst>
          </p:cNvPr>
          <p:cNvSpPr txBox="1"/>
          <p:nvPr/>
        </p:nvSpPr>
        <p:spPr>
          <a:xfrm>
            <a:off x="506341" y="2864989"/>
            <a:ext cx="10506456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TABLE: </a:t>
            </a:r>
            <a:r>
              <a:rPr lang="en-US" b="1" dirty="0"/>
              <a:t>drivers</a:t>
            </a:r>
            <a:endParaRPr lang="en-US" sz="1400" dirty="0"/>
          </a:p>
          <a:p>
            <a:pPr lvl="1"/>
            <a:r>
              <a:rPr lang="en-US" sz="1050" dirty="0">
                <a:latin typeface="Monospac821 BT" panose="020B0609020202020204" pitchFamily="49" charset="0"/>
              </a:rPr>
              <a:t>Column	Type			Meaning</a:t>
            </a:r>
          </a:p>
          <a:p>
            <a:pPr lvl="1"/>
            <a:r>
              <a:rPr lang="en-US" sz="1050" dirty="0">
                <a:latin typeface="Monospac821 BT" panose="020B0609020202020204" pitchFamily="49" charset="0"/>
              </a:rPr>
              <a:t>id		INTEGER PK AUTOINCREMENT	Internal primary key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driver_id</a:t>
            </a:r>
            <a:r>
              <a:rPr lang="en-US" sz="1050" dirty="0">
                <a:latin typeface="Monospac821 BT" panose="020B0609020202020204" pitchFamily="49" charset="0"/>
              </a:rPr>
              <a:t>	TEXT UNIQUE			Your own assigned driver code (e.g. "DR-001")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rfid_serial</a:t>
            </a:r>
            <a:r>
              <a:rPr lang="en-US" sz="1050" dirty="0">
                <a:latin typeface="Monospac821 BT" panose="020B0609020202020204" pitchFamily="49" charset="0"/>
              </a:rPr>
              <a:t>	TEXT UNIQUE			RFID card serial assigned to driver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full_name</a:t>
            </a:r>
            <a:r>
              <a:rPr lang="en-US" sz="1050" dirty="0">
                <a:latin typeface="Monospac821 BT" panose="020B0609020202020204" pitchFamily="49" charset="0"/>
              </a:rPr>
              <a:t>	TEXT			Driver’s complete name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created_at</a:t>
            </a:r>
            <a:r>
              <a:rPr lang="en-US" sz="1050" dirty="0">
                <a:latin typeface="Monospac821 BT" panose="020B0609020202020204" pitchFamily="49" charset="0"/>
              </a:rPr>
              <a:t>	TEXT			Auto timestamp when added (</a:t>
            </a:r>
            <a:r>
              <a:rPr lang="en-US" sz="1050" dirty="0" err="1">
                <a:latin typeface="Monospac821 BT" panose="020B0609020202020204" pitchFamily="49" charset="0"/>
              </a:rPr>
              <a:t>localtime</a:t>
            </a:r>
            <a:r>
              <a:rPr lang="en-US" sz="1050" dirty="0">
                <a:latin typeface="Monospac821 BT" panose="020B0609020202020204" pitchFamily="49" charset="0"/>
              </a:rPr>
              <a:t>)</a:t>
            </a:r>
          </a:p>
          <a:p>
            <a:pPr lvl="1"/>
            <a:r>
              <a:rPr lang="en-US" sz="1050" dirty="0">
                <a:latin typeface="Monospac821 BT" panose="020B0609020202020204" pitchFamily="49" charset="0"/>
              </a:rPr>
              <a:t>vehicle	TEXT			Vehicle </a:t>
            </a:r>
            <a:r>
              <a:rPr lang="en-US" sz="1050" dirty="0" err="1">
                <a:latin typeface="Monospac821 BT" panose="020B0609020202020204" pitchFamily="49" charset="0"/>
              </a:rPr>
              <a:t>descrip</a:t>
            </a:r>
            <a:endParaRPr lang="en-US" sz="1050" dirty="0">
              <a:latin typeface="Monospac821 BT" panose="020B060902020202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23704-E7F5-24A2-564B-7884083A3A8E}"/>
              </a:ext>
            </a:extLst>
          </p:cNvPr>
          <p:cNvSpPr txBox="1"/>
          <p:nvPr/>
        </p:nvSpPr>
        <p:spPr>
          <a:xfrm>
            <a:off x="506341" y="4647782"/>
            <a:ext cx="10506456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TABLE: </a:t>
            </a:r>
            <a:r>
              <a:rPr lang="en-US" b="1" dirty="0" err="1"/>
              <a:t>system_users</a:t>
            </a:r>
            <a:endParaRPr lang="en-US" b="1" dirty="0"/>
          </a:p>
          <a:p>
            <a:pPr lvl="1"/>
            <a:r>
              <a:rPr lang="en-US" sz="1050" dirty="0">
                <a:latin typeface="Monospac821 BT" panose="020B0609020202020204" pitchFamily="49" charset="0"/>
              </a:rPr>
              <a:t>Column	Type			Meaning</a:t>
            </a:r>
          </a:p>
          <a:p>
            <a:pPr lvl="1"/>
            <a:r>
              <a:rPr lang="en-US" sz="1050" dirty="0">
                <a:latin typeface="Monospac821 BT" panose="020B0609020202020204" pitchFamily="49" charset="0"/>
              </a:rPr>
              <a:t>id		INTEGER PK AUTOINCREMENT	Internal ID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full_name</a:t>
            </a:r>
            <a:r>
              <a:rPr lang="en-US" sz="1050" dirty="0">
                <a:latin typeface="Monospac821 BT" panose="020B0609020202020204" pitchFamily="49" charset="0"/>
              </a:rPr>
              <a:t>	TEXT			Person’s full name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user_name</a:t>
            </a:r>
            <a:r>
              <a:rPr lang="en-US" sz="1050" dirty="0">
                <a:latin typeface="Monospac821 BT" panose="020B0609020202020204" pitchFamily="49" charset="0"/>
              </a:rPr>
              <a:t>	TEXT UNIQUE			Login username</a:t>
            </a:r>
          </a:p>
          <a:p>
            <a:pPr lvl="1"/>
            <a:r>
              <a:rPr lang="en-US" sz="1050" dirty="0">
                <a:latin typeface="Monospac821 BT" panose="020B0609020202020204" pitchFamily="49" charset="0"/>
              </a:rPr>
              <a:t>password	TEXT (SHA-256 hash)		Hashed password, NOT plaintext</a:t>
            </a:r>
          </a:p>
          <a:p>
            <a:pPr lvl="1"/>
            <a:r>
              <a:rPr lang="en-US" sz="1050" dirty="0" err="1">
                <a:latin typeface="Monospac821 BT" panose="020B0609020202020204" pitchFamily="49" charset="0"/>
              </a:rPr>
              <a:t>user_type</a:t>
            </a:r>
            <a:r>
              <a:rPr lang="en-US" sz="1050" dirty="0">
                <a:latin typeface="Monospac821 BT" panose="020B0609020202020204" pitchFamily="49" charset="0"/>
              </a:rPr>
              <a:t>	TEXT			ADMIN or USER/OPERATOR</a:t>
            </a:r>
          </a:p>
        </p:txBody>
      </p:sp>
    </p:spTree>
    <p:extLst>
      <p:ext uri="{BB962C8B-B14F-4D97-AF65-F5344CB8AC3E}">
        <p14:creationId xmlns:p14="http://schemas.microsoft.com/office/powerpoint/2010/main" val="1275783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802B-A0B0-BF84-8CE2-DED1D7E7E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6706E05-19A5-2796-076B-9FA947ADCD0C}"/>
              </a:ext>
            </a:extLst>
          </p:cNvPr>
          <p:cNvSpPr txBox="1"/>
          <p:nvPr/>
        </p:nvSpPr>
        <p:spPr>
          <a:xfrm>
            <a:off x="506341" y="285694"/>
            <a:ext cx="10506456" cy="21467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TABLE: </a:t>
            </a:r>
            <a:r>
              <a:rPr lang="en-US" b="1" dirty="0"/>
              <a:t>violations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Column	Type			Meaning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id	INTEGER PK AUTOINCREMENT	Violation number</a:t>
            </a:r>
          </a:p>
          <a:p>
            <a:r>
              <a:rPr lang="en-US" sz="1050" dirty="0" err="1">
                <a:latin typeface="Monospac821 BT" panose="020B0609020202020204" pitchFamily="49" charset="0"/>
              </a:rPr>
              <a:t>driver_name</a:t>
            </a:r>
            <a:r>
              <a:rPr lang="en-US" sz="1050" dirty="0">
                <a:latin typeface="Monospac821 BT" panose="020B0609020202020204" pitchFamily="49" charset="0"/>
              </a:rPr>
              <a:t>	TEXT			Driver full name (duplicate for convenience)</a:t>
            </a:r>
          </a:p>
          <a:p>
            <a:r>
              <a:rPr lang="en-US" sz="1050" dirty="0" err="1">
                <a:latin typeface="Monospac821 BT" panose="020B0609020202020204" pitchFamily="49" charset="0"/>
              </a:rPr>
              <a:t>driver_id</a:t>
            </a:r>
            <a:r>
              <a:rPr lang="en-US" sz="1050" dirty="0">
                <a:latin typeface="Monospac821 BT" panose="020B0609020202020204" pitchFamily="49" charset="0"/>
              </a:rPr>
              <a:t>	TEXT			Links to </a:t>
            </a:r>
            <a:r>
              <a:rPr lang="en-US" sz="1050" dirty="0" err="1">
                <a:latin typeface="Monospac821 BT" panose="020B0609020202020204" pitchFamily="49" charset="0"/>
              </a:rPr>
              <a:t>drivers.driver_id</a:t>
            </a:r>
            <a:endParaRPr lang="en-US" sz="1050" dirty="0">
              <a:latin typeface="Monospac821 BT" panose="020B0609020202020204" pitchFamily="49" charset="0"/>
            </a:endParaRPr>
          </a:p>
          <a:p>
            <a:r>
              <a:rPr lang="en-US" sz="1050" dirty="0" err="1">
                <a:latin typeface="Monospac821 BT" panose="020B0609020202020204" pitchFamily="49" charset="0"/>
              </a:rPr>
              <a:t>rfid_serial</a:t>
            </a:r>
            <a:r>
              <a:rPr lang="en-US" sz="1050" dirty="0">
                <a:latin typeface="Monospac821 BT" panose="020B0609020202020204" pitchFamily="49" charset="0"/>
              </a:rPr>
              <a:t>	TEXT			Again duplicated for fast lookup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violation	TEXT			Type/description of violation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vehicle	TEXT			Vehicle involved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date	TEXT			When the violation happened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amount	REAL			Fine amount</a:t>
            </a:r>
          </a:p>
          <a:p>
            <a:r>
              <a:rPr lang="en-US" sz="1050" dirty="0" err="1">
                <a:latin typeface="Monospac821 BT" panose="020B0609020202020204" pitchFamily="49" charset="0"/>
              </a:rPr>
              <a:t>due_date</a:t>
            </a:r>
            <a:r>
              <a:rPr lang="en-US" sz="1050" dirty="0">
                <a:latin typeface="Monospac821 BT" panose="020B0609020202020204" pitchFamily="49" charset="0"/>
              </a:rPr>
              <a:t>	TEXT			Payment deadline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paid	TEXT		‘	paid' or '</a:t>
            </a:r>
            <a:r>
              <a:rPr lang="en-US" sz="1050" dirty="0" err="1">
                <a:latin typeface="Monospac821 BT" panose="020B0609020202020204" pitchFamily="49" charset="0"/>
              </a:rPr>
              <a:t>unpa</a:t>
            </a:r>
            <a:endParaRPr lang="en-US" sz="1050" dirty="0">
              <a:latin typeface="Monospac821 BT" panose="020B060902020202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8FCB1D-3D94-3916-D58D-6C6D60A18B4F}"/>
              </a:ext>
            </a:extLst>
          </p:cNvPr>
          <p:cNvSpPr txBox="1"/>
          <p:nvPr/>
        </p:nvSpPr>
        <p:spPr>
          <a:xfrm>
            <a:off x="506341" y="2759586"/>
            <a:ext cx="105064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TABLE: </a:t>
            </a:r>
            <a:r>
              <a:rPr lang="en-US" b="1" dirty="0" err="1"/>
              <a:t>violations_type</a:t>
            </a:r>
            <a:endParaRPr lang="en-US" b="1" dirty="0"/>
          </a:p>
          <a:p>
            <a:r>
              <a:rPr lang="en-US" sz="1050" dirty="0">
                <a:latin typeface="Monospac821 BT" panose="020B0609020202020204" pitchFamily="49" charset="0"/>
              </a:rPr>
              <a:t>Column		Type			Meaning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id		INTEGER PK AUTOINCREMENT	Internal ID</a:t>
            </a:r>
          </a:p>
          <a:p>
            <a:r>
              <a:rPr lang="en-US" sz="1050" dirty="0" err="1">
                <a:latin typeface="Monospac821 BT" panose="020B0609020202020204" pitchFamily="49" charset="0"/>
              </a:rPr>
              <a:t>violation_type</a:t>
            </a:r>
            <a:r>
              <a:rPr lang="en-US" sz="1050" dirty="0">
                <a:latin typeface="Monospac821 BT" panose="020B0609020202020204" pitchFamily="49" charset="0"/>
              </a:rPr>
              <a:t>	TEXT UNIQUE			Name of violation (e.g., "No Helmet")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amount		REAL			Penalty amount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1484B4-BC37-4CAF-A8B8-EA47B47C61CC}"/>
              </a:ext>
            </a:extLst>
          </p:cNvPr>
          <p:cNvSpPr txBox="1"/>
          <p:nvPr/>
        </p:nvSpPr>
        <p:spPr>
          <a:xfrm>
            <a:off x="506341" y="4102399"/>
            <a:ext cx="10506456" cy="854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TABLE: </a:t>
            </a:r>
            <a:r>
              <a:rPr lang="en-US" b="1" dirty="0"/>
              <a:t>comports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Column	Type		Meaning</a:t>
            </a:r>
          </a:p>
          <a:p>
            <a:r>
              <a:rPr lang="en-US" sz="1050" dirty="0">
                <a:latin typeface="Monospac821 BT" panose="020B0609020202020204" pitchFamily="49" charset="0"/>
              </a:rPr>
              <a:t>port	TEXT UNIQUE		COM port (e.g., "COM3")</a:t>
            </a:r>
          </a:p>
          <a:p>
            <a:r>
              <a:rPr lang="en-US" sz="1050" dirty="0" err="1">
                <a:latin typeface="Monospac821 BT" panose="020B0609020202020204" pitchFamily="49" charset="0"/>
              </a:rPr>
              <a:t>baudrate</a:t>
            </a:r>
            <a:r>
              <a:rPr lang="en-US" sz="1050" dirty="0">
                <a:latin typeface="Monospac821 BT" panose="020B0609020202020204" pitchFamily="49" charset="0"/>
              </a:rPr>
              <a:t>	TEXT		</a:t>
            </a:r>
            <a:r>
              <a:rPr lang="en-US" sz="1050" dirty="0" err="1">
                <a:latin typeface="Monospac821 BT" panose="020B0609020202020204" pitchFamily="49" charset="0"/>
              </a:rPr>
              <a:t>Baudrate</a:t>
            </a:r>
            <a:r>
              <a:rPr lang="en-US" sz="1050" dirty="0">
                <a:latin typeface="Monospac821 BT" panose="020B0609020202020204" pitchFamily="49" charset="0"/>
              </a:rPr>
              <a:t> used</a:t>
            </a:r>
          </a:p>
        </p:txBody>
      </p:sp>
    </p:spTree>
    <p:extLst>
      <p:ext uri="{BB962C8B-B14F-4D97-AF65-F5344CB8AC3E}">
        <p14:creationId xmlns:p14="http://schemas.microsoft.com/office/powerpoint/2010/main" val="1577077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9dda1df-3fca-45c7-91be-5629a3733338}" enabled="1" method="Standard" siteId="{ec1ca250-c234-4d56-a76b-7dfb9eee0c4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1320</Words>
  <Application>Microsoft Office PowerPoint</Application>
  <PresentationFormat>Widescreen</PresentationFormat>
  <Paragraphs>164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Monospac821 BT</vt:lpstr>
      <vt:lpstr>Office Theme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Feronel</dc:creator>
  <cp:lastModifiedBy>Oliver Feronel</cp:lastModifiedBy>
  <cp:revision>12</cp:revision>
  <dcterms:created xsi:type="dcterms:W3CDTF">2026-02-07T17:51:45Z</dcterms:created>
  <dcterms:modified xsi:type="dcterms:W3CDTF">2026-02-22T22:28:25Z</dcterms:modified>
</cp:coreProperties>
</file>